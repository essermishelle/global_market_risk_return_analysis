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80" r:id="rId5"/>
    <p:sldId id="283" r:id="rId6"/>
    <p:sldId id="281" r:id="rId7"/>
    <p:sldId id="284" r:id="rId8"/>
    <p:sldId id="285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>
        <p:scale>
          <a:sx n="63" d="100"/>
          <a:sy n="63" d="100"/>
        </p:scale>
        <p:origin x="63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 Esser" userId="251d48d5d85b94da" providerId="LiveId" clId="{98F6B24E-4AF6-480B-88FB-AC18614B6DDC}"/>
    <pc:docChg chg="modSld">
      <pc:chgData name="M Esser" userId="251d48d5d85b94da" providerId="LiveId" clId="{98F6B24E-4AF6-480B-88FB-AC18614B6DDC}" dt="2026-05-21T04:45:57.621" v="356" actId="1076"/>
      <pc:docMkLst>
        <pc:docMk/>
      </pc:docMkLst>
      <pc:sldChg chg="modSp mod">
        <pc:chgData name="M Esser" userId="251d48d5d85b94da" providerId="LiveId" clId="{98F6B24E-4AF6-480B-88FB-AC18614B6DDC}" dt="2026-05-21T04:44:53.987" v="346" actId="20577"/>
        <pc:sldMkLst>
          <pc:docMk/>
          <pc:sldMk cId="3265077456" sldId="281"/>
        </pc:sldMkLst>
        <pc:graphicFrameChg chg="mod modGraphic">
          <ac:chgData name="M Esser" userId="251d48d5d85b94da" providerId="LiveId" clId="{98F6B24E-4AF6-480B-88FB-AC18614B6DDC}" dt="2026-05-21T04:44:53.987" v="346" actId="20577"/>
          <ac:graphicFrameMkLst>
            <pc:docMk/>
            <pc:sldMk cId="3265077456" sldId="281"/>
            <ac:graphicFrameMk id="7" creationId="{35795294-C09A-0E0B-3E8F-B113B5066FAC}"/>
          </ac:graphicFrameMkLst>
        </pc:graphicFrameChg>
      </pc:sldChg>
      <pc:sldChg chg="modSp mod">
        <pc:chgData name="M Esser" userId="251d48d5d85b94da" providerId="LiveId" clId="{98F6B24E-4AF6-480B-88FB-AC18614B6DDC}" dt="2026-05-21T04:31:43.290" v="148" actId="20577"/>
        <pc:sldMkLst>
          <pc:docMk/>
          <pc:sldMk cId="1064292267" sldId="283"/>
        </pc:sldMkLst>
        <pc:spChg chg="mod">
          <ac:chgData name="M Esser" userId="251d48d5d85b94da" providerId="LiveId" clId="{98F6B24E-4AF6-480B-88FB-AC18614B6DDC}" dt="2026-05-21T04:31:43.290" v="148" actId="20577"/>
          <ac:spMkLst>
            <pc:docMk/>
            <pc:sldMk cId="1064292267" sldId="283"/>
            <ac:spMk id="7" creationId="{131DD44E-797F-E830-3859-2A0C7DFD9C4B}"/>
          </ac:spMkLst>
        </pc:spChg>
      </pc:sldChg>
      <pc:sldChg chg="modSp mod">
        <pc:chgData name="M Esser" userId="251d48d5d85b94da" providerId="LiveId" clId="{98F6B24E-4AF6-480B-88FB-AC18614B6DDC}" dt="2026-05-21T04:45:57.621" v="356" actId="1076"/>
        <pc:sldMkLst>
          <pc:docMk/>
          <pc:sldMk cId="326202030" sldId="284"/>
        </pc:sldMkLst>
        <pc:picChg chg="mod">
          <ac:chgData name="M Esser" userId="251d48d5d85b94da" providerId="LiveId" clId="{98F6B24E-4AF6-480B-88FB-AC18614B6DDC}" dt="2026-05-21T04:45:45.808" v="353" actId="1076"/>
          <ac:picMkLst>
            <pc:docMk/>
            <pc:sldMk cId="326202030" sldId="284"/>
            <ac:picMk id="11" creationId="{580CF3FA-BDFA-9E65-88B7-3D70C6D8CB64}"/>
          </ac:picMkLst>
        </pc:picChg>
        <pc:picChg chg="mod">
          <ac:chgData name="M Esser" userId="251d48d5d85b94da" providerId="LiveId" clId="{98F6B24E-4AF6-480B-88FB-AC18614B6DDC}" dt="2026-05-21T04:45:57.621" v="356" actId="1076"/>
          <ac:picMkLst>
            <pc:docMk/>
            <pc:sldMk cId="326202030" sldId="284"/>
            <ac:picMk id="14" creationId="{DFD89319-5EF0-FF8B-888D-35B8160E676E}"/>
          </ac:picMkLst>
        </pc:picChg>
        <pc:picChg chg="mod">
          <ac:chgData name="M Esser" userId="251d48d5d85b94da" providerId="LiveId" clId="{98F6B24E-4AF6-480B-88FB-AC18614B6DDC}" dt="2026-05-21T04:45:49.365" v="354" actId="1076"/>
          <ac:picMkLst>
            <pc:docMk/>
            <pc:sldMk cId="326202030" sldId="284"/>
            <ac:picMk id="15" creationId="{BB69B427-0028-E506-8D27-F283EAD1CA58}"/>
          </ac:picMkLst>
        </pc:picChg>
        <pc:picChg chg="mod">
          <ac:chgData name="M Esser" userId="251d48d5d85b94da" providerId="LiveId" clId="{98F6B24E-4AF6-480B-88FB-AC18614B6DDC}" dt="2026-05-21T04:45:53.769" v="355" actId="1076"/>
          <ac:picMkLst>
            <pc:docMk/>
            <pc:sldMk cId="326202030" sldId="284"/>
            <ac:picMk id="16" creationId="{5E4A5EBD-8D36-0053-44E4-051AF9724E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981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277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205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77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315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334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58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49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809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1927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52098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324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75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27440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large, sitting, white, numbers">
            <a:extLst>
              <a:ext uri="{FF2B5EF4-FFF2-40B4-BE49-F238E27FC236}">
                <a16:creationId xmlns:a16="http://schemas.microsoft.com/office/drawing/2014/main" id="{9A5D9ED1-DFCC-4799-89E2-D118451B98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68" y="0"/>
            <a:ext cx="12191356" cy="6858000"/>
          </a:xfrm>
          <a:prstGeom prst="rect">
            <a:avLst/>
          </a:prstGeom>
        </p:spPr>
      </p:pic>
      <p:sp useBgFill="1">
        <p:nvSpPr>
          <p:cNvPr id="96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3" y="1673524"/>
            <a:ext cx="3485072" cy="2420504"/>
          </a:xfrm>
        </p:spPr>
        <p:txBody>
          <a:bodyPr>
            <a:normAutofit/>
          </a:bodyPr>
          <a:lstStyle/>
          <a:p>
            <a:r>
              <a:rPr lang="en-US" sz="4000" dirty="0"/>
              <a:t>Global Market Performance &amp; Risk Dashboard</a:t>
            </a:r>
          </a:p>
        </p:txBody>
      </p:sp>
      <p:pic>
        <p:nvPicPr>
          <p:cNvPr id="4" name="Picture 3" descr="Logo">
            <a:extLst>
              <a:ext uri="{FF2B5EF4-FFF2-40B4-BE49-F238E27FC236}">
                <a16:creationId xmlns:a16="http://schemas.microsoft.com/office/drawing/2014/main" id="{0BFF565B-A89A-74E3-287D-EA0014B96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425" y="4172437"/>
            <a:ext cx="3668182" cy="106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20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5EF30-9681-4C0D-133B-E737B9E12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53DA4-B37F-6B8E-6010-721B49D4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Business Objectives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DD44E-797F-E830-3859-2A0C7DFD9C4B}"/>
              </a:ext>
            </a:extLst>
          </p:cNvPr>
          <p:cNvSpPr txBox="1"/>
          <p:nvPr/>
        </p:nvSpPr>
        <p:spPr>
          <a:xfrm>
            <a:off x="1827467" y="1767840"/>
            <a:ext cx="945073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Analyze market performance and volatility trend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For the appropriate level of stakeholders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Identify high-performing and high-risk section: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market trends,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volatility,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and asset class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Support executive decision-making through KPI’s and visualization for fast insights into performance and risk</a:t>
            </a:r>
          </a:p>
        </p:txBody>
      </p:sp>
      <p:sp>
        <p:nvSpPr>
          <p:cNvPr id="8" name="Rectangle 7" descr="Bullseye">
            <a:extLst>
              <a:ext uri="{FF2B5EF4-FFF2-40B4-BE49-F238E27FC236}">
                <a16:creationId xmlns:a16="http://schemas.microsoft.com/office/drawing/2014/main" id="{A1E34516-9F09-AC05-FC84-784E252EDC63}"/>
              </a:ext>
            </a:extLst>
          </p:cNvPr>
          <p:cNvSpPr/>
          <p:nvPr/>
        </p:nvSpPr>
        <p:spPr>
          <a:xfrm>
            <a:off x="1292352" y="1767840"/>
            <a:ext cx="535115" cy="51206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Rectangle 8" descr="Bullseye">
            <a:extLst>
              <a:ext uri="{FF2B5EF4-FFF2-40B4-BE49-F238E27FC236}">
                <a16:creationId xmlns:a16="http://schemas.microsoft.com/office/drawing/2014/main" id="{5BF452DE-29D2-D7D6-941F-2504980963C3}"/>
              </a:ext>
            </a:extLst>
          </p:cNvPr>
          <p:cNvSpPr/>
          <p:nvPr/>
        </p:nvSpPr>
        <p:spPr>
          <a:xfrm>
            <a:off x="1291681" y="2644134"/>
            <a:ext cx="535115" cy="51206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Rectangle 9" descr="Bullseye">
            <a:extLst>
              <a:ext uri="{FF2B5EF4-FFF2-40B4-BE49-F238E27FC236}">
                <a16:creationId xmlns:a16="http://schemas.microsoft.com/office/drawing/2014/main" id="{EBBA91C9-B0D2-3709-C13F-4AA2E086DFD4}"/>
              </a:ext>
            </a:extLst>
          </p:cNvPr>
          <p:cNvSpPr/>
          <p:nvPr/>
        </p:nvSpPr>
        <p:spPr>
          <a:xfrm>
            <a:off x="1291682" y="4322065"/>
            <a:ext cx="535115" cy="512064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64292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1F205-E8A9-4237-8AD2-ABD9BF694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Requirement Gathering Approach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5795294-C09A-0E0B-3E8F-B113B5066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036065"/>
              </p:ext>
            </p:extLst>
          </p:nvPr>
        </p:nvGraphicFramePr>
        <p:xfrm>
          <a:off x="1962912" y="1866900"/>
          <a:ext cx="8173857" cy="31050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7905">
                  <a:extLst>
                    <a:ext uri="{9D8B030D-6E8A-4147-A177-3AD203B41FA5}">
                      <a16:colId xmlns:a16="http://schemas.microsoft.com/office/drawing/2014/main" val="192939354"/>
                    </a:ext>
                  </a:extLst>
                </a:gridCol>
                <a:gridCol w="4095952">
                  <a:extLst>
                    <a:ext uri="{9D8B030D-6E8A-4147-A177-3AD203B41FA5}">
                      <a16:colId xmlns:a16="http://schemas.microsoft.com/office/drawing/2014/main" val="4210765245"/>
                    </a:ext>
                  </a:extLst>
                </a:gridCol>
              </a:tblGrid>
              <a:tr h="410827">
                <a:tc>
                  <a:txBody>
                    <a:bodyPr/>
                    <a:lstStyle/>
                    <a:p>
                      <a:r>
                        <a:rPr lang="en-US" dirty="0"/>
                        <a:t>Business Questions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Technical Concerns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58853"/>
                  </a:ext>
                </a:extLst>
              </a:tr>
              <a:tr h="41082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Who is the target audience?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fields are available?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612042"/>
                  </a:ext>
                </a:extLst>
              </a:tr>
              <a:tr h="410827">
                <a:tc>
                  <a:txBody>
                    <a:bodyPr/>
                    <a:lstStyle/>
                    <a:p>
                      <a:r>
                        <a:rPr lang="en-US" dirty="0"/>
                        <a:t>What business KPIs matter most?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is the data granularity?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102403"/>
                  </a:ext>
                </a:extLst>
              </a:tr>
              <a:tr h="410827">
                <a:tc>
                  <a:txBody>
                    <a:bodyPr/>
                    <a:lstStyle/>
                    <a:p>
                      <a:r>
                        <a:rPr lang="en-US" dirty="0"/>
                        <a:t>How are KPIs defined and measured?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 there missing/null data?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672779"/>
                  </a:ext>
                </a:extLst>
              </a:tr>
              <a:tr h="410827">
                <a:tc>
                  <a:txBody>
                    <a:bodyPr/>
                    <a:lstStyle/>
                    <a:p>
                      <a:r>
                        <a:rPr lang="en-US" dirty="0"/>
                        <a:t>Who are the best performers?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time horizons are available?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767308"/>
                  </a:ext>
                </a:extLst>
              </a:tr>
              <a:tr h="410827">
                <a:tc>
                  <a:txBody>
                    <a:bodyPr/>
                    <a:lstStyle/>
                    <a:p>
                      <a:r>
                        <a:rPr lang="en-US" dirty="0"/>
                        <a:t>Find the most volatile, at-risk segment?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is the data refresh frequency?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370202"/>
                  </a:ext>
                </a:extLst>
              </a:tr>
              <a:tr h="410827">
                <a:tc>
                  <a:txBody>
                    <a:bodyPr/>
                    <a:lstStyle/>
                    <a:p>
                      <a:r>
                        <a:rPr lang="en-US" dirty="0"/>
                        <a:t>What trends need more attention?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Are there technical/time constraint?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809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5077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47A22D-0606-B135-62B7-020AE9F6C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A804-F209-8D92-CF3E-AA6265459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Dashboard Wireframe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A7EA1F-5794-CE2B-90BE-6C1F6105F026}"/>
              </a:ext>
            </a:extLst>
          </p:cNvPr>
          <p:cNvSpPr/>
          <p:nvPr/>
        </p:nvSpPr>
        <p:spPr>
          <a:xfrm>
            <a:off x="2170176" y="1744980"/>
            <a:ext cx="2523744" cy="553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Avg Return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44F00B-EC70-96D9-6FDA-0BA1C5D7FF43}"/>
              </a:ext>
            </a:extLst>
          </p:cNvPr>
          <p:cNvSpPr/>
          <p:nvPr/>
        </p:nvSpPr>
        <p:spPr>
          <a:xfrm>
            <a:off x="4693920" y="1744980"/>
            <a:ext cx="2523744" cy="553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Volatility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40E017-3AB3-D676-048F-6DEBA3E445AB}"/>
              </a:ext>
            </a:extLst>
          </p:cNvPr>
          <p:cNvSpPr/>
          <p:nvPr/>
        </p:nvSpPr>
        <p:spPr>
          <a:xfrm>
            <a:off x="7217664" y="1744980"/>
            <a:ext cx="2523744" cy="5539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Risk </a:t>
            </a:r>
          </a:p>
        </p:txBody>
      </p:sp>
      <p:pic>
        <p:nvPicPr>
          <p:cNvPr id="11" name="Picture 10" descr="Line chart - Free business and finance icons">
            <a:extLst>
              <a:ext uri="{FF2B5EF4-FFF2-40B4-BE49-F238E27FC236}">
                <a16:creationId xmlns:a16="http://schemas.microsoft.com/office/drawing/2014/main" id="{580CF3FA-BDFA-9E65-88B7-3D70C6D8C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2478810"/>
            <a:ext cx="2292096" cy="1828800"/>
          </a:xfrm>
          <a:prstGeom prst="rect">
            <a:avLst/>
          </a:prstGeom>
        </p:spPr>
      </p:pic>
      <p:pic>
        <p:nvPicPr>
          <p:cNvPr id="14" name="Picture 13" descr="Bar chart logo icon sign symbol design 6732150 Vector Art at Vecteezy">
            <a:extLst>
              <a:ext uri="{FF2B5EF4-FFF2-40B4-BE49-F238E27FC236}">
                <a16:creationId xmlns:a16="http://schemas.microsoft.com/office/drawing/2014/main" id="{DFD89319-5EF0-FF8B-888D-35B8160E6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017" y="4667274"/>
            <a:ext cx="2292096" cy="1828800"/>
          </a:xfrm>
          <a:prstGeom prst="rect">
            <a:avLst/>
          </a:prstGeom>
        </p:spPr>
      </p:pic>
      <p:pic>
        <p:nvPicPr>
          <p:cNvPr id="15" name="Picture 14" descr="Scatter Chart Icon Stock Illustrations – 1,303 Scatter Chart ...">
            <a:extLst>
              <a:ext uri="{FF2B5EF4-FFF2-40B4-BE49-F238E27FC236}">
                <a16:creationId xmlns:a16="http://schemas.microsoft.com/office/drawing/2014/main" id="{BB69B427-0028-E506-8D27-F283EAD1C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0193" y="2514600"/>
            <a:ext cx="2523744" cy="1828800"/>
          </a:xfrm>
          <a:prstGeom prst="rect">
            <a:avLst/>
          </a:prstGeom>
        </p:spPr>
      </p:pic>
      <p:pic>
        <p:nvPicPr>
          <p:cNvPr id="16" name="Picture 15" descr="Heatmap analysis - free Icon PNG, SVG">
            <a:extLst>
              <a:ext uri="{FF2B5EF4-FFF2-40B4-BE49-F238E27FC236}">
                <a16:creationId xmlns:a16="http://schemas.microsoft.com/office/drawing/2014/main" id="{5E4A5EBD-8D36-0053-44E4-051AF9724E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5792" y="4487442"/>
            <a:ext cx="2645664" cy="218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0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A96EB-4CD5-523C-99C7-D92400021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D7AA3-2F80-2131-3466-46A47CF2B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Workflow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38E7E-E622-AC4A-D6FE-4B6458E8535F}"/>
              </a:ext>
            </a:extLst>
          </p:cNvPr>
          <p:cNvSpPr/>
          <p:nvPr/>
        </p:nvSpPr>
        <p:spPr>
          <a:xfrm>
            <a:off x="1200610" y="1706880"/>
            <a:ext cx="2292096" cy="1072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Raw Dataset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4B1E5-E67C-BD1B-42D1-B4FF786D099A}"/>
              </a:ext>
            </a:extLst>
          </p:cNvPr>
          <p:cNvSpPr/>
          <p:nvPr/>
        </p:nvSpPr>
        <p:spPr>
          <a:xfrm>
            <a:off x="4858512" y="1706880"/>
            <a:ext cx="2292096" cy="1072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Python </a:t>
            </a:r>
          </a:p>
          <a:p>
            <a:pPr algn="ctr"/>
            <a:r>
              <a:rPr lang="en-US" dirty="0"/>
              <a:t>Data Cleaning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42AB49-C682-63C2-3D70-2EE1EF045ED9}"/>
              </a:ext>
            </a:extLst>
          </p:cNvPr>
          <p:cNvSpPr/>
          <p:nvPr/>
        </p:nvSpPr>
        <p:spPr>
          <a:xfrm>
            <a:off x="8492030" y="1706880"/>
            <a:ext cx="2292096" cy="1072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Feature Engineer (Returns, Volatility)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12BE5D2-98E1-786D-93DD-D6A5101006D9}"/>
              </a:ext>
            </a:extLst>
          </p:cNvPr>
          <p:cNvSpPr/>
          <p:nvPr/>
        </p:nvSpPr>
        <p:spPr>
          <a:xfrm>
            <a:off x="3639463" y="4462270"/>
            <a:ext cx="1084786" cy="4145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D3339C5-F0CC-A32B-6A27-D39F2C9F2CBF}"/>
              </a:ext>
            </a:extLst>
          </p:cNvPr>
          <p:cNvSpPr/>
          <p:nvPr/>
        </p:nvSpPr>
        <p:spPr>
          <a:xfrm>
            <a:off x="7278926" y="1903476"/>
            <a:ext cx="1084786" cy="4145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4BEDFC-57EA-7039-B4A6-C553FBBA35A7}"/>
              </a:ext>
            </a:extLst>
          </p:cNvPr>
          <p:cNvSpPr/>
          <p:nvPr/>
        </p:nvSpPr>
        <p:spPr>
          <a:xfrm>
            <a:off x="1200610" y="4253481"/>
            <a:ext cx="2292096" cy="1072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Aggregate &amp; Validate</a:t>
            </a:r>
          </a:p>
        </p:txBody>
      </p:sp>
      <p:sp>
        <p:nvSpPr>
          <p:cNvPr id="14" name="Arrow: Bent-Up 13">
            <a:extLst>
              <a:ext uri="{FF2B5EF4-FFF2-40B4-BE49-F238E27FC236}">
                <a16:creationId xmlns:a16="http://schemas.microsoft.com/office/drawing/2014/main" id="{BD46024D-C351-53D6-BB7A-EB4874489FBC}"/>
              </a:ext>
            </a:extLst>
          </p:cNvPr>
          <p:cNvSpPr/>
          <p:nvPr/>
        </p:nvSpPr>
        <p:spPr>
          <a:xfrm rot="10800000">
            <a:off x="2011680" y="3230878"/>
            <a:ext cx="7120128" cy="1022603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8EBA1AE-9F9A-B580-426E-BE82134AA10B}"/>
              </a:ext>
            </a:extLst>
          </p:cNvPr>
          <p:cNvSpPr/>
          <p:nvPr/>
        </p:nvSpPr>
        <p:spPr>
          <a:xfrm>
            <a:off x="8900160" y="2906266"/>
            <a:ext cx="463296" cy="64922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7CB30B-15EF-1DB0-702F-8ACFEA6BE0AC}"/>
              </a:ext>
            </a:extLst>
          </p:cNvPr>
          <p:cNvSpPr/>
          <p:nvPr/>
        </p:nvSpPr>
        <p:spPr>
          <a:xfrm>
            <a:off x="4858512" y="4143754"/>
            <a:ext cx="2292096" cy="1072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Tableau</a:t>
            </a:r>
          </a:p>
          <a:p>
            <a:pPr algn="ctr"/>
            <a:r>
              <a:rPr lang="en-US" dirty="0"/>
              <a:t>Visualization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E5AEFCB-358D-2114-5273-F8CC5B253F4B}"/>
              </a:ext>
            </a:extLst>
          </p:cNvPr>
          <p:cNvSpPr/>
          <p:nvPr/>
        </p:nvSpPr>
        <p:spPr>
          <a:xfrm>
            <a:off x="3651353" y="1990344"/>
            <a:ext cx="1084786" cy="4145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6C824-D7A9-E096-9413-9AC9C3B53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6DB45-A782-8D60-0A79-7B9B981FC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</p:spPr>
        <p:txBody>
          <a:bodyPr>
            <a:normAutofit/>
          </a:bodyPr>
          <a:lstStyle/>
          <a:p>
            <a:r>
              <a:rPr lang="en-US" dirty="0"/>
              <a:t>Validation/Iteration</a:t>
            </a:r>
          </a:p>
        </p:txBody>
      </p:sp>
      <p:sp>
        <p:nvSpPr>
          <p:cNvPr id="3" name="Rectangle 2" descr="Checkmark">
            <a:extLst>
              <a:ext uri="{FF2B5EF4-FFF2-40B4-BE49-F238E27FC236}">
                <a16:creationId xmlns:a16="http://schemas.microsoft.com/office/drawing/2014/main" id="{02AB7EBE-8131-0905-03C1-AB7385DC2E8B}"/>
              </a:ext>
            </a:extLst>
          </p:cNvPr>
          <p:cNvSpPr/>
          <p:nvPr/>
        </p:nvSpPr>
        <p:spPr>
          <a:xfrm>
            <a:off x="1869485" y="1866900"/>
            <a:ext cx="483571" cy="524256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2C6FDC-C6E9-947C-BAA0-78F9ED2CE624}"/>
              </a:ext>
            </a:extLst>
          </p:cNvPr>
          <p:cNvSpPr txBox="1"/>
          <p:nvPr/>
        </p:nvSpPr>
        <p:spPr>
          <a:xfrm>
            <a:off x="2450592" y="1866900"/>
            <a:ext cx="76078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Review prototype with stakeholders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Confirm KPIs answer business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Validate usability and clarity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/>
              <a:t>Iterate based on feedback</a:t>
            </a:r>
          </a:p>
        </p:txBody>
      </p:sp>
      <p:sp>
        <p:nvSpPr>
          <p:cNvPr id="8" name="Rectangle 7" descr="Checkmark">
            <a:extLst>
              <a:ext uri="{FF2B5EF4-FFF2-40B4-BE49-F238E27FC236}">
                <a16:creationId xmlns:a16="http://schemas.microsoft.com/office/drawing/2014/main" id="{68309811-641E-DE85-670D-059E8C54432E}"/>
              </a:ext>
            </a:extLst>
          </p:cNvPr>
          <p:cNvSpPr/>
          <p:nvPr/>
        </p:nvSpPr>
        <p:spPr>
          <a:xfrm>
            <a:off x="1891814" y="2391156"/>
            <a:ext cx="483571" cy="524256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9" name="Rectangle 8" descr="Checkmark">
            <a:extLst>
              <a:ext uri="{FF2B5EF4-FFF2-40B4-BE49-F238E27FC236}">
                <a16:creationId xmlns:a16="http://schemas.microsoft.com/office/drawing/2014/main" id="{C3AECB63-52C4-C4EA-3ABF-94B1F14C2FD3}"/>
              </a:ext>
            </a:extLst>
          </p:cNvPr>
          <p:cNvSpPr/>
          <p:nvPr/>
        </p:nvSpPr>
        <p:spPr>
          <a:xfrm>
            <a:off x="1891814" y="2836396"/>
            <a:ext cx="483571" cy="524256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Rectangle 9" descr="Checkmark">
            <a:extLst>
              <a:ext uri="{FF2B5EF4-FFF2-40B4-BE49-F238E27FC236}">
                <a16:creationId xmlns:a16="http://schemas.microsoft.com/office/drawing/2014/main" id="{F759F9D0-FF89-E76D-AF48-EAAEB76F276E}"/>
              </a:ext>
            </a:extLst>
          </p:cNvPr>
          <p:cNvSpPr/>
          <p:nvPr/>
        </p:nvSpPr>
        <p:spPr>
          <a:xfrm>
            <a:off x="1891814" y="3281636"/>
            <a:ext cx="483571" cy="524256"/>
          </a:xfrm>
          <a:prstGeom prst="rect">
            <a:avLst/>
          </a:prstGeo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50802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Arial Nova">
      <a:majorFont>
        <a:latin typeface="Arial Nova Light"/>
        <a:ea typeface=""/>
        <a:cs typeface=""/>
      </a:majorFont>
      <a:minorFont>
        <a:latin typeface="Arial Nova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CB38EC-895A-4F8F-8F75-E263501ABB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7E70FC5-1855-47AB-8CE1-CB3C873A8988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60E646-30AD-4BA0-97EA-A7A07DF549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{E1F43D43-D7D5-4078-A916-D383974C41FF}TF44c8ba04-08d0-4be5-99b0-3ee2a8f0f11401c8fd43_win32-463ac1ec4738</Template>
  <TotalTime>677</TotalTime>
  <Words>176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Nova</vt:lpstr>
      <vt:lpstr>Arial Nova Light</vt:lpstr>
      <vt:lpstr>Wingdings 2</vt:lpstr>
      <vt:lpstr>SlateVTI</vt:lpstr>
      <vt:lpstr>Global Market Performance &amp; Risk Dashboard</vt:lpstr>
      <vt:lpstr>Business Objectives </vt:lpstr>
      <vt:lpstr>Requirement Gathering Approach</vt:lpstr>
      <vt:lpstr>Dashboard Wireframe</vt:lpstr>
      <vt:lpstr>Workflow</vt:lpstr>
      <vt:lpstr>Validation/Iteration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 Esser</dc:creator>
  <cp:lastModifiedBy>M Esser</cp:lastModifiedBy>
  <cp:revision>1</cp:revision>
  <dcterms:created xsi:type="dcterms:W3CDTF">2026-05-18T23:19:32Z</dcterms:created>
  <dcterms:modified xsi:type="dcterms:W3CDTF">2026-05-21T12:48:13Z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